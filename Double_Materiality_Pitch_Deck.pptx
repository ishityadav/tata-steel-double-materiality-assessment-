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2E"/>
                </a:solidFill>
                <a:latin typeface="Calibri"/>
              </a:rPr>
              <a:t>Topics by Category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Topics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C8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Double
Material</c:v>
                  </c:pt>
                  <c:pt idx="1">
                    <c:v>Impact-
Only</c:v>
                  </c:pt>
                  <c:pt idx="2">
                    <c:v>Financial-
Only</c:v>
                  </c:pt>
                  <c:pt idx="3">
                    <c:v>Not
Material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3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5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05840"/>
            <a:ext cx="3200400" cy="3200400"/>
          </a:xfrm>
          <a:prstGeom prst="ellipse">
            <a:avLst/>
          </a:prstGeom>
          <a:solidFill>
            <a:srgbClr val="2B3583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81160" y="1005840"/>
            <a:ext cx="3200400" cy="3200400"/>
          </a:xfrm>
          <a:prstGeom prst="ellipse">
            <a:avLst/>
          </a:prstGeom>
          <a:solidFill>
            <a:srgbClr val="2C5F2D">
              <a:alpha val="7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18120" y="1691640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9966960" y="1691640"/>
            <a:ext cx="1600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⚘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MATERIALITY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CBD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ESRS-aligned framework for scoring, ranking, and defending ESG priorities — built and demonstrated on Tata Steel Limited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892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ANALYTICAL TOOL   ·   FORMULA-DRIVEN   ·   GRI / ESRS ALIGNED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0584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Ishit Yadav   ·   github.com/ishityadav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topics are everywhere. Materiality is not.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CSRD/ESRS now requires companies to justify — not just assert — which ESG topics matter, and from which direction they matter.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337560" cy="3291840"/>
          </a:xfrm>
          <a:prstGeom prst="roundRect">
            <a:avLst>
              <a:gd name="adj" fmla="val 25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375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shared scoring logic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reports rate topics “High / Medium / Low” with no visible method behind the label.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3337560" cy="3291840"/>
          </a:xfrm>
          <a:prstGeom prst="roundRect">
            <a:avLst>
              <a:gd name="adj" fmla="val 25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3375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Scores aren’t traceable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9776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rating that can’t be traced back to a reason can’t survive an auditor’s or investor’s question.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63840" y="2286000"/>
            <a:ext cx="3337560" cy="3291840"/>
          </a:xfrm>
          <a:prstGeom prst="roundRect">
            <a:avLst>
              <a:gd name="adj" fmla="val 250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1381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33375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outputs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977640"/>
            <a:ext cx="2788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PDF matrix can’t be recalculated when an assumption, a regulation, or a stakeholder view changes.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topic is checked from two directions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4480560" cy="44805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148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200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MATERIALITY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→ In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44348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ESG topic affect our company’s costs, revenue, risk, or valuation?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737360"/>
            <a:ext cx="4480560" cy="448056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14884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⚘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32004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MATERIALITY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→ Out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44348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F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our company’s activity affect people or the planet?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56048" y="3246120"/>
            <a:ext cx="2286000" cy="100584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956048" y="32461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61722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 must be disclosed under ESRS if it is material under EITHER lens — or both.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ENGINE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formulas turn judgment into a number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MATERIALITY SCORE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  ×  Magnitude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9B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score: 25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349240" cy="1554480"/>
          </a:xfrm>
          <a:prstGeom prst="roundRect">
            <a:avLst>
              <a:gd name="adj" fmla="val 588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75564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MATERIALITY SCORE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08483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AVG(Scale, Scope, Irrem.) × Likelihood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97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EA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score: 25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variables, each scored 1–5, feed the two formulas above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11480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411480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4498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Likelihood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4937760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probable is the risk or impact?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98064" y="393192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62656" y="411480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62656" y="411480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62656" y="4498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Magnitude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2962656" y="4937760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the financial hit if it happens?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47488" y="393192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12080" y="411480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212080" y="411480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4498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4937760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severe is the harm to people/planet?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96912" y="393192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1504" y="411480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61504" y="411480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7461504" y="4498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7461504" y="4937760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widespread is the harm?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46336" y="3931920"/>
            <a:ext cx="2103120" cy="23317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E1E4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0928" y="4114800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710928" y="4114800"/>
            <a:ext cx="17739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9710928" y="4498848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Irremediability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9710928" y="4937760"/>
            <a:ext cx="177393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hard is it to undo the damage?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Tata Steel’s 12 topics land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12.5 on each axis  ·  scores run 0–25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520440" cy="2217420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" name="Shape 4"/>
          <p:cNvSpPr/>
          <p:nvPr/>
        </p:nvSpPr>
        <p:spPr>
          <a:xfrm>
            <a:off x="4206240" y="1600200"/>
            <a:ext cx="3520440" cy="22174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3817620"/>
            <a:ext cx="3520440" cy="22174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" name="Shape 6"/>
          <p:cNvSpPr/>
          <p:nvPr/>
        </p:nvSpPr>
        <p:spPr>
          <a:xfrm>
            <a:off x="4206240" y="3817620"/>
            <a:ext cx="3520440" cy="221742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600200"/>
            <a:ext cx="7040880" cy="4434840"/>
          </a:xfrm>
          <a:prstGeom prst="rect">
            <a:avLst/>
          </a:prstGeom>
          <a:ln w="12700">
            <a:solidFill>
              <a:srgbClr val="9AA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600200"/>
            <a:ext cx="0" cy="443484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85800" y="3817620"/>
            <a:ext cx="70408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977640" y="13441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20040" y="370789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1673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IMPACT-ONLY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15968" y="16733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5742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MATERIAL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5742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FINANCIAL-ONLY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614476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MATERIALITY SCORE →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 rot="16200000">
            <a:off x="-2080260" y="36804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MATERIALITY SCORE →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26096" y="1795863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54696" y="1795863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119933" y="3569799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3589" y="3569799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19933" y="3805733"/>
            <a:ext cx="201168" cy="20116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53589" y="3805733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11757" y="2860225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40357" y="2860225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91379" y="4515307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19979" y="4515307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91379" y="3096158"/>
            <a:ext cx="201168" cy="20116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19979" y="309615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711757" y="5047488"/>
            <a:ext cx="201168" cy="20116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40357" y="504748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19933" y="3332092"/>
            <a:ext cx="201168" cy="20116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348533" y="33320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64838" y="4515307"/>
            <a:ext cx="201168" cy="20116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98494" y="4515307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17920" y="487009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46520" y="487009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964838" y="4692701"/>
            <a:ext cx="201168" cy="20116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93438" y="4692701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711757" y="5343735"/>
            <a:ext cx="201168" cy="201168"/>
          </a:xfrm>
          <a:prstGeom prst="ellipse">
            <a:avLst/>
          </a:prstGeom>
          <a:solidFill>
            <a:srgbClr val="8C8C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940357" y="5343735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00100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KEY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001000" y="1920240"/>
            <a:ext cx="3657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 Climate Change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 Water &amp; Effluents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 Air Emissions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 Biodiversity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 Energy (Coal)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 Health &amp; Safety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 Diversity &amp; Inclusion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 Community &amp; Displacement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 Product Quality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Cybersecurity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 Business Ethics</a:t>
            </a:r>
            <a:endParaRPr lang="en-US" sz="10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Board Governance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GRI-aligned ESG topics, scored end to end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7091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5029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24942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1396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50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(GHG Emissions)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3035808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29260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2369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Consumption &amp; Effluents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" y="3822192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37124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023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Emissions (Dust, SOx, NOx)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" y="46085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51560" y="44988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8097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Biodiversity &amp; Mine Rehabilitation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" y="53949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51560" y="5285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55961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Management (Coal)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9120" y="1508760"/>
            <a:ext cx="3611880" cy="47091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1508760"/>
            <a:ext cx="36118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89120" y="15087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45152" y="2249424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92040" y="21396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645152" y="2450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Health &amp; Safety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45152" y="303580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92040" y="29260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T07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645152" y="32369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Diversity &amp; Inclusion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645152" y="382219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92040" y="37124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T08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45152" y="4023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Development &amp; Displacement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645152" y="4608576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892040" y="44988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645152" y="48097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&amp; Customer Safety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29600" y="1508760"/>
            <a:ext cx="3611880" cy="47091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29600" y="1508760"/>
            <a:ext cx="3611880" cy="5029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29600" y="1508760"/>
            <a:ext cx="3611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485632" y="224942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732520" y="213969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485632" y="2450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Resilience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485632" y="3035808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732520" y="292608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485632" y="32369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Ethics &amp; Anti-Corruption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485632" y="3822192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732520" y="3712464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8485632" y="40233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Governance &amp; Climate Oversight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48640" y="6355080"/>
            <a:ext cx="128016" cy="128016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31520" y="6263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423160" y="635508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2606040" y="6263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Impact-Only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97680" y="63550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480560" y="6263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Financial-Only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72200" y="6355080"/>
            <a:ext cx="128016" cy="128016"/>
          </a:xfrm>
          <a:prstGeom prst="ellipse">
            <a:avLst/>
          </a:prstGeom>
          <a:solidFill>
            <a:srgbClr val="8C8C8C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6355080" y="6263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Material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behind the matrix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468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3160" y="15544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23160" y="1664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468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Impact-Only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5544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1664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468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Financial-Only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1691640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9050">
            <a:solidFill>
              <a:srgbClr val="8C8C8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66420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C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4688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Material</a:t>
            </a:r>
            <a:endParaRPr lang="en-US" sz="10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8001000" y="1554480"/>
          <a:ext cx="36576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548640" y="32918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11.67 / 25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950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Financial Score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297680" y="329184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52628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11.17 / 25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4526280" y="39502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Impact Score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47091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7240" y="4800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" y="53675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Financial Score (Climate Change)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297680" y="4709160"/>
            <a:ext cx="352044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4526280" y="4800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23.33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536752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Impact Score (Climate Change)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materiality outcome lives or dies at the threshold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7498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topics — Air Emissions, Product Quality, and Business Ethics — each scored exactly 12 on one axis. Moving the threshold from 12 to 12.5 flipped all three from “material” to “Not Material.”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4937760" cy="2834640"/>
          </a:xfrm>
          <a:prstGeom prst="roundRect">
            <a:avLst>
              <a:gd name="adj" fmla="val 2903"/>
            </a:avLst>
          </a:prstGeom>
          <a:solidFill>
            <a:srgbClr val="2730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12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topics classified as material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7200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AEB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Double + 4 Impact-Only + 4 Financial-Only)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806440" y="2834640"/>
            <a:ext cx="4937760" cy="2834640"/>
          </a:xfrm>
          <a:prstGeom prst="roundRect">
            <a:avLst>
              <a:gd name="adj" fmla="val 2903"/>
            </a:avLst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80760" y="3063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12.5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35204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topics remain material — 3 fewer sit inside the boundary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42976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Emissions, Product Quality, and Business Ethics move to “Not Material”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68112" y="4114800"/>
            <a:ext cx="38404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48640" y="58978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BD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a materiality threshold is a governance decision, not a technicality — this workbook makes it visible and adjustable in one place, not buried in a PDF.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linked sheets, one live calculation chain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755648" y="2980944"/>
            <a:ext cx="205087" cy="0"/>
          </a:xfrm>
          <a:prstGeom prst="line">
            <a:avLst/>
          </a:prstGeom>
          <a:noFill/>
          <a:ln w="22225">
            <a:solidFill>
              <a:srgbClr val="B9BEDC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60735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960735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15599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7743" y="2980944"/>
            <a:ext cx="205087" cy="0"/>
          </a:xfrm>
          <a:prstGeom prst="line">
            <a:avLst/>
          </a:prstGeom>
          <a:noFill/>
          <a:ln w="22225">
            <a:solidFill>
              <a:srgbClr val="B9BED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72830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372830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27694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9838" y="2980944"/>
            <a:ext cx="205087" cy="0"/>
          </a:xfrm>
          <a:prstGeom prst="line">
            <a:avLst/>
          </a:prstGeom>
          <a:noFill/>
          <a:ln w="22225">
            <a:solidFill>
              <a:srgbClr val="B9BED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84925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784925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839789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91933" y="2980944"/>
            <a:ext cx="205087" cy="0"/>
          </a:xfrm>
          <a:prstGeom prst="line">
            <a:avLst/>
          </a:prstGeom>
          <a:noFill/>
          <a:ln w="22225">
            <a:solidFill>
              <a:srgbClr val="B9BED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97019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197019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51883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404027" y="2980944"/>
            <a:ext cx="205087" cy="0"/>
          </a:xfrm>
          <a:prstGeom prst="line">
            <a:avLst/>
          </a:prstGeom>
          <a:noFill/>
          <a:ln w="22225">
            <a:solidFill>
              <a:srgbClr val="B9BED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609114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609114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63978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16122" y="2980944"/>
            <a:ext cx="205087" cy="0"/>
          </a:xfrm>
          <a:prstGeom prst="line">
            <a:avLst/>
          </a:prstGeom>
          <a:noFill/>
          <a:ln w="22225">
            <a:solidFill>
              <a:srgbClr val="B9BED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21209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021209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076073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228217" y="2980944"/>
            <a:ext cx="205087" cy="0"/>
          </a:xfrm>
          <a:prstGeom prst="line">
            <a:avLst/>
          </a:prstGeom>
          <a:noFill/>
          <a:ln w="22225">
            <a:solidFill>
              <a:srgbClr val="B9BED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433304" y="2377440"/>
            <a:ext cx="1207008" cy="1207008"/>
          </a:xfrm>
          <a:prstGeom prst="roundRect">
            <a:avLst>
              <a:gd name="adj" fmla="val 37879"/>
            </a:avLst>
          </a:prstGeom>
          <a:solidFill>
            <a:srgbClr val="F2A900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10433304" y="2487168"/>
            <a:ext cx="1207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488168" y="2761488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297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downstream sheet uses INDEX/MATCH to pull from the sheet before it — change one input score, and the matrix, chart, and dashboard recalculate automatically.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22960" y="5074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51560" y="5184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760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formulas, zero calculation errors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26280" y="5074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54880" y="5184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4754880" y="5760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materiality threshold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229600" y="507492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458200" y="5184648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44" name="Text 42"/>
          <p:cNvSpPr txBox="1"/>
          <p:nvPr/>
        </p:nvSpPr>
        <p:spPr>
          <a:xfrm>
            <a:off x="8458200" y="57607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Excel functions — no add-ins, no macros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DIFFERENT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trusted, not just to look finished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formula-driven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6771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a hardcoded output — every score, average, and category label recalculates live from its inputs.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81051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score has a reason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26771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24 Likelihood/Magnitude/Scale/Scope/Irremediability inputs carries a one-line, auditable justification.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977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593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edited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41655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input on the Financial or Impact sheet and the matrix, chart, and dashboard update themselves — no rebuilding.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89320" y="3703320"/>
            <a:ext cx="51206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97764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63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9593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Beginner-friendly by design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416552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Scoring Guide sheet explains every 1–5 rating in plain English, colour-coded green to red.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training exercise to reusable template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the topic universe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290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from 12 teaching topics to the full ESRS/GRI sector-standard topic set.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6002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47872" y="185623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547872" y="25146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 in real data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7872" y="34290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expert-judgment scores with stakeholder surveys, incident logs, and financial exposure data.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6002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18504" y="185623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318504" y="25146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Sector-agnostic template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18504" y="34290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the workbook so any company can swap in its own topics and scores.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0536" y="1600200"/>
            <a:ext cx="2514600" cy="3291840"/>
          </a:xfrm>
          <a:prstGeom prst="roundRect">
            <a:avLst>
              <a:gd name="adj" fmla="val 327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5400000">
              <a:srgbClr val="1A1A2E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089136" y="185623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89136" y="2514600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dashboard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089136" y="342900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Power BI / Python layer for multi-year tracking and peer benchmarking.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Materiality Assessment  •  Tata Steel Case Study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097280"/>
            <a:ext cx="4114800" cy="4114800"/>
          </a:xfrm>
          <a:prstGeom prst="ellipse">
            <a:avLst/>
          </a:prstGeom>
          <a:solidFill>
            <a:srgbClr val="2B3583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029200"/>
            <a:ext cx="3840480" cy="3840480"/>
          </a:xfrm>
          <a:prstGeom prst="ellipse">
            <a:avLst/>
          </a:prstGeom>
          <a:solidFill>
            <a:srgbClr val="2C5F2D">
              <a:alpha val="6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ESG judgment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an auditable system.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CBD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workbook, methodology notes, and documentation available on GitHub.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100584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846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Ishit Yadav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285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github.com/ishityadav   ·   yadavishit2@gmail.com   ·   linkedin.com/in/ishityadav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2026-09-14T09:34:42Z</dcterms:created>
  <dcterms:modified xsi:type="dcterms:W3CDTF">2026-09-14T09:34:42Z</dcterms:modified>
</cp:coreProperties>
</file>